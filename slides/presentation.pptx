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Test accuracy, 843 images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6B778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778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9A23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1495B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Zero-shot CLIP</c:v>
                  </c:pt>
                  <c:pt idx="1">
                    <c:v>CLIP probe</c:v>
                  </c:pt>
                  <c:pt idx="2">
                    <c:v>DINOv2 probe</c:v>
                  </c:pt>
                  <c:pt idx="3">
                    <c:v>Fine-tuned ViT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74.6</c:v>
                </c:pt>
                <c:pt idx="1">
                  <c:v>99.88</c:v>
                </c:pt>
                <c:pt idx="2">
                  <c:v>99.64</c:v>
                </c:pt>
                <c:pt idx="3">
                  <c:v>99.96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Test accuracy (%) under perturbation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Zero-shot CLIP</c:v>
                </c:pt>
              </c:strCache>
            </c:strRef>
          </c:tx>
          <c:spPr>
            <a:solidFill>
              <a:srgbClr val="6B778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Original</c:v>
                  </c:pt>
                  <c:pt idx="1">
                    <c:v>Same res.</c:v>
                  </c:pt>
                  <c:pt idx="2">
                    <c:v>Greyscale</c:v>
                  </c:pt>
                  <c:pt idx="3">
                    <c:v>Hue shift</c:v>
                  </c:pt>
                  <c:pt idx="4">
                    <c:v>Darker</c:v>
                  </c:pt>
                  <c:pt idx="5">
                    <c:v>Brighter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74.6</c:v>
                </c:pt>
                <c:pt idx="1">
                  <c:v>73.5</c:v>
                </c:pt>
                <c:pt idx="2">
                  <c:v>55.5</c:v>
                </c:pt>
                <c:pt idx="3">
                  <c:v>40.5</c:v>
                </c:pt>
                <c:pt idx="4">
                  <c:v>65.2</c:v>
                </c:pt>
                <c:pt idx="5">
                  <c:v>61.8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CLIP probe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Original</c:v>
                  </c:pt>
                  <c:pt idx="1">
                    <c:v>Same res.</c:v>
                  </c:pt>
                  <c:pt idx="2">
                    <c:v>Greyscale</c:v>
                  </c:pt>
                  <c:pt idx="3">
                    <c:v>Hue shift</c:v>
                  </c:pt>
                  <c:pt idx="4">
                    <c:v>Darker</c:v>
                  </c:pt>
                  <c:pt idx="5">
                    <c:v>Brighter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99.9</c:v>
                </c:pt>
                <c:pt idx="1">
                  <c:v>87.8</c:v>
                </c:pt>
                <c:pt idx="2">
                  <c:v>77</c:v>
                </c:pt>
                <c:pt idx="3">
                  <c:v>88.6</c:v>
                </c:pt>
                <c:pt idx="4">
                  <c:v>90.6</c:v>
                </c:pt>
                <c:pt idx="5">
                  <c:v>89.3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DINOv2 probe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Original</c:v>
                  </c:pt>
                  <c:pt idx="1">
                    <c:v>Same res.</c:v>
                  </c:pt>
                  <c:pt idx="2">
                    <c:v>Greyscale</c:v>
                  </c:pt>
                  <c:pt idx="3">
                    <c:v>Hue shift</c:v>
                  </c:pt>
                  <c:pt idx="4">
                    <c:v>Darker</c:v>
                  </c:pt>
                  <c:pt idx="5">
                    <c:v>Brighter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99.6</c:v>
                </c:pt>
                <c:pt idx="1">
                  <c:v>98.5</c:v>
                </c:pt>
                <c:pt idx="2">
                  <c:v>88.5</c:v>
                </c:pt>
                <c:pt idx="3">
                  <c:v>98.3</c:v>
                </c:pt>
                <c:pt idx="4">
                  <c:v>99.4</c:v>
                </c:pt>
                <c:pt idx="5">
                  <c:v>99.1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Fine-tuned ViT</c:v>
                </c:pt>
              </c:strCache>
            </c:strRef>
          </c:tx>
          <c:spPr>
            <a:solidFill>
              <a:srgbClr val="D149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Original</c:v>
                  </c:pt>
                  <c:pt idx="1">
                    <c:v>Same res.</c:v>
                  </c:pt>
                  <c:pt idx="2">
                    <c:v>Greyscale</c:v>
                  </c:pt>
                  <c:pt idx="3">
                    <c:v>Hue shift</c:v>
                  </c:pt>
                  <c:pt idx="4">
                    <c:v>Darker</c:v>
                  </c:pt>
                  <c:pt idx="5">
                    <c:v>Brighter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99.9</c:v>
                </c:pt>
                <c:pt idx="1">
                  <c:v>98.2</c:v>
                </c:pt>
                <c:pt idx="2">
                  <c:v>89.9</c:v>
                </c:pt>
                <c:pt idx="3">
                  <c:v>98.2</c:v>
                </c:pt>
                <c:pt idx="4">
                  <c:v>75.8</c:v>
                </c:pt>
                <c:pt idx="5">
                  <c:v>87.9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30"/>
        </c:scaling>
        <c:delete val="0"/>
        <c:axPos val="l"/>
        <c:majorGridlines>
          <c:spPr>
            <a:ln w="6350" cap="flat">
              <a:solidFill>
                <a:srgbClr val="DDE3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for Satellite Image Classification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517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Zero-shot, linear probe and fine-tuning, with a robustness study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 ·  [Course / programme]  ·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tidy dataset hides a resolution shortcut</a:t>
            </a:r>
            <a:endParaRPr lang="en-US" sz="2600" dirty="0"/>
          </a:p>
        </p:txBody>
      </p:sp>
      <p:pic>
        <p:nvPicPr>
          <p:cNvPr id="3" name="Image 0" descr="/home/claude/work/fig/02_sampl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480560" cy="314553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2976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Cloudy and desert: 256×256 · green_area and water: 64×64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303520" y="1097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5,631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30352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images, 4 classes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3,942 / 846 / 843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7132320" y="109728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53.3%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7132320" y="16002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image size alone (chance 25%)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30352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82.4%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mean RGB colour alone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331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7132320" y="28346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near-duplicate pairs found and kept in one split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Duplicate-aware, stratified 70/15/15 split. Model choices made on validation only; test set used once per model.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use pre-trained transformers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80160"/>
            <a:ext cx="164592" cy="164592"/>
          </a:xfrm>
          <a:prstGeom prst="ellipse">
            <a:avLst/>
          </a:prstGeom>
          <a:solidFill>
            <a:srgbClr val="6B7785"/>
          </a:solidFill>
          <a:ln w="12700">
            <a:solidFill>
              <a:srgbClr val="6B778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CLIP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ViT-B/32. No training: image–text similarity. Prompt wording chosen on validation (macro-F1 0.45 to 0.73).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46320" y="1280160"/>
            <a:ext cx="164592" cy="164592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74920" y="120700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probe: CLIP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160020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512-d embeddings, standardised, logistic regression, C chosen on validation.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63240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2990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probe: DINOv2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1,536-d features (CLS + mean patch), same probe. Self-supervised, no text.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02336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3063240"/>
            <a:ext cx="164592" cy="164592"/>
          </a:xfrm>
          <a:prstGeom prst="ellipse">
            <a:avLst/>
          </a:prstGeom>
          <a:solidFill>
            <a:srgbClr val="D1495B"/>
          </a:solidFill>
          <a:ln w="12700">
            <a:solidFill>
              <a:srgbClr val="D149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74920" y="29900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ViT-B/16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3383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86M weights. AdamW, 4 epochs, flips + 90° rotations, no colour jitter. 3 seeds, 0.27 GPU-hours.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lifts accuracy from 75% to over 99%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0584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852160" y="1097280"/>
            <a:ext cx="2926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difference among the three trained methods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vs DINOv2: +0.24 pts, 95% CI −0.24 to +0.71. Only 0–3 errors in 843 images, so the test set is saturated.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is clearly worse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25 points below the others (p &lt; 10⁻⁶⁰) and below the colour-only baseline.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 labels needed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training images give 95% (CLIP) and 98% (DINOv2) validation accuracy.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Robustness, not accuracy, separates the models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960120"/>
          <a:ext cx="56692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217920" y="10515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−12.1 pts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6217920" y="15544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probe when resolution cue is removed; desert recall falls to 52%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6217920" y="2286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−24.1 pts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217920" y="2788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ViT on darkened images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6217920" y="3520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88.5%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217920" y="40233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probe worst-case accuracy (best of all four)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2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works, except for water</a:t>
            </a:r>
            <a:endParaRPr lang="en-US" sz="2600" dirty="0"/>
          </a:p>
        </p:txBody>
      </p:sp>
      <p:pic>
        <p:nvPicPr>
          <p:cNvPr id="3" name="Image 0" descr="/home/claude/work/fig/25_embedding_pro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05840"/>
            <a:ext cx="4343400" cy="35661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120640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99.2%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image-to-image precision@1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1051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15544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image-to-image precision@1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120640" y="22860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Text-to-image (CLIP): </a:t>
            </a:r>
            <a:pPr indent="0" marL="0">
              <a:buNone/>
            </a:pPr>
            <a:r>
              <a:rPr lang="en-US" sz="12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clouds, desert and forest queries return only correct images in the top 10, but water queries score 0.0 to 0.1. “A satellite image of a lake” retrieves dark forest.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UMAP: </a:t>
            </a:r>
            <a:pPr indent="0" marL="0">
              <a:buNone/>
            </a:pPr>
            <a:r>
              <a:rPr lang="en-US" sz="1200" dirty="0">
                <a:solidFill>
                  <a:srgbClr val="1D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forms four clean clusters; in CLIP, water and green_area overlap. In both, clusters follow native image size, which is the confound.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26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Biases, ethics and conclusion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C3652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biases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7830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tied to class. Colour dependence (−10 to −34 pts under greyscale or hue shift). Coarse labels. Unknown geography and sensor.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9184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C3652"/>
          </a:solidFill>
          <a:ln w="19050">
            <a:solidFill>
              <a:srgbClr val="E9A2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7472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2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implications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17830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99% score can mislead: silent failure on new sensors or regions affects real decisions. Dual use for surveillance. Low compute cost (≤ 0.019 kWh).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2648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1C3652"/>
          </a:solidFill>
          <a:ln w="19050">
            <a:solidFill>
              <a:srgbClr val="D1495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09360" y="1325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149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783080"/>
            <a:ext cx="2286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Pre-trained features nearly solve the task. DINOv2 probe gave the best mix of accuracy, stability and cost. Next: matched-resolution, multi-region data.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 Transformers for Satellite Image Classification</dc:title>
  <dc:subject>PptxGenJS Presentation</dc:subject>
  <dc:creator>PptxGenJS</dc:creator>
  <cp:lastModifiedBy>PptxGenJS</cp:lastModifiedBy>
  <cp:revision>1</cp:revision>
  <dcterms:created xsi:type="dcterms:W3CDTF">2026-10-24T05:25:22Z</dcterms:created>
  <dcterms:modified xsi:type="dcterms:W3CDTF">2026-10-24T05:25:22Z</dcterms:modified>
</cp:coreProperties>
</file>